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IMU-Based Exercise Recognition
and Repetition Counter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3931920"/>
            <a:ext cx="3657600" cy="508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B0BEC5"/>
                </a:solidFill>
              </a:rPr>
              <a:t>ECE420 — Embedded Signal Processing
Android Application with Real-Time ML Inference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E88E5"/>
                </a:solidFill>
              </a:rPr>
              <a:t>End-to-End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11274552" cy="381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111556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Goal: classify exercise type and count repetitions in real time using only the phone's built-in IMU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Three target exercises: Biceps Press (BP), Shoulder Press (SP), Triceps Extension (TP)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Pipeline spans hardware sensing → signal processing → ML training → on-device inference → UI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Four major subsystems: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Sensor layer — Android SensorManager, accelerometer + gyroscope at ~50 Hz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Signal processing — IIR low-pass filter, jerk magnitude, autocorrelation, peak detection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Machine-learning pipeline — offline Python training (sklearn), logistic regression exported to Java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Android application — real-time classification, rep counting, calorie estimation, session history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All inference runs entirely on-device; no network calls or cloud dependency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Data Collection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E88E5"/>
                </a:solidFill>
              </a:rPr>
              <a:t>Android IMU Recording Module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11274552" cy="381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111556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Custom ImuCollector class wraps Android SensorManager and buffers raw sensor events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Two physical sensors registered simultaneously: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TYPE_ACCELEROMETER — linear acceleration in m/s²  (ax, ay, az)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TYPE_GYROSCOPE    — angular velocity in rad/s     (gx, gy, gz)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Sampling rate: SENSOR_DELAY_GAME (~50 Hz nominal)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Each event stores event.timestamp in nanoseconds for precise timing reconstruction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Recording session exports a 7-column CSV per set: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timestamp_ms,  ax,  ay,  az,  gx,  gy,  gz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Export uses ACTION_CREATE_DOCUMENT (Storage Access Framework) — no WRITE_EXTERNAL_STORAGE permission required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Files collected offline; labeled by folder: data/bp/, data/sp/, data/Triceps/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Sensor Configuration &amp; Sampling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E88E5"/>
                </a:solidFill>
              </a:rPr>
              <a:t>Hardware Layer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11274552" cy="381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111556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SENSOR_DELAY_GAME is the closest Android constant to 50 Hz (~20 ms event interval)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Actual rate varies by device; timestamp is used rather than assuming fixed Δt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During active recording all six channels buffered in List&lt;Float&gt; per axis: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accelX, accelY, accelZ  — one value per SensorEvent from TYPE_ACCELEROMETER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gyroX,  gyroY,  gyroZ   — one value per SensorEvent from TYPE_GYROSCOPE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accelTs, gyroTs          — List&lt;Long&gt; of nanosecond timestamps for each sensor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Sensor fusion not used; accelerometer and gyroscope are treated as independent channels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Gravity component is NOT removed — raw accelerometer values are used directly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Gravity provides a stable DC offset that encodes phone orientation, useful for classification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Three parallel ImuCollector instances run simultaneously: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imuCollector   — dedicated to rep counting signal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dataCollector  — dedicated to CSV file export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liveClassifier — feeds the real-time ML inference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Signal Pre-Processing: Low-Pass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E88E5"/>
                </a:solidFill>
              </a:rPr>
              <a:t>IIR First-Order Butterworth Approximation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11274552" cy="381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111556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Raw accelerometer data contains high-frequency noise from phone vibration and sensor quantization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A causal first-order IIR filter is applied independently to each of the six axes: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y[n]  =  α · x[n]  +  (1 − α) · y[n−1]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Filter coefficient α = 0.76, chosen to give a −3 dB cutoff of approximately 14 Hz: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ωc  =  arccos( 1 − α² / (2(1−α)) 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At fs = 50 Hz: fc = ωc · fs / (2π)  ≈  14 Hz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Why 14 Hz: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Exercise repetition rates fall between 0.3 and 2.5 Hz (fundamental + harmonics up to ~10 Hz)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Cutting at 14 Hz preserves all biomechanically relevant harmonics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Previous value of α = 0.2 (~1.8 Hz cutoff) was too aggressive and distorted rep waveforms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Filter is applied causally (left-to-right), so no look-ahead latency — suitable for streaming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Initial condition: y[0] = x[0]  (avoids startup transient)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Jerk Magnitude Computation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E88E5"/>
                </a:solidFill>
              </a:rPr>
              <a:t>Deriving a Periodic Scalar Signal from 3-Axis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11274552" cy="381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111556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After filtering, each axis is differentiated discretely to obtain the jerk (rate of change of acceleration):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Δax[n] = ax[n+1] − ax[n]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Δay[n] = ay[n+1] − ay[n]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Δaz[n] = az[n+1] − az[n]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The scalar jerk magnitude collapses all three axes into a single non-negative signal: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J[n]  =  √( Δax² + Δay² + Δaz² 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Why differentiate before taking magnitude: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Differentiation suppresses the gravity DC offset, making the signal zero-mean around rest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Each repetition produces two distinct jerk peaks (concentric + eccentric phase)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The magnitude operation makes the signal rotation-invariant — result is the same regardless of phone orientation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Output length is N − 1 samples (one shorter than the input due to differencing)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Same pipeline applied to gyroscope channels as an alternative rep-counting signal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Repetition Period Estimation via Autocorrelation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E88E5"/>
                </a:solidFill>
              </a:rPr>
              <a:t>Finding the Dominant Periodicity in the Jerk Signal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11274552" cy="381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111556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Repetitive exercise produces a quasi-periodic jerk signal; the period corresponds to one full rep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Autocorrelation R(τ) measures self-similarity at lag τ: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R(τ)  =  (1/T) · Σ_t  s(t) · s(t+τ)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where s is the zero-meaned jerk magnitude and T is the number of valid pairs at lag τ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Zero-meaning is critical: jerk magnitude is always non-negative (DC offset).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Without zero-meaning, R(τ) is dominated by the constant offset and the true periodic peak is buried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Search range for lag τ: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Minimum:  20 samples  ≈ 0.4 s  (fastest plausible rep rate)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Maximum: 250 samples  ≈ 5.0 s  (slowest plausible rep rate)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Upper limit also capped at N/2 to ensure statistical reliability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The lag τ* with the highest R(τ) is taken as the estimated repetition period L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L is passed directly to the peak detection stage as the expected rep interval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Peak Detection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E88E5"/>
                </a:solidFill>
              </a:rPr>
              <a:t>Counting Reps from Jerk Peaks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11274552" cy="381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111556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Peaks in the jerk magnitude correspond to the high-effort phases of each repetition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Three simultaneous criteria must be satisfied for a sample i to be accepted as a peak: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1. Amplitude threshold: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J[i]  ≥  mean(J)  +  0.4 · std(J)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Rejects low-energy bumps and baseline noise while remaining robust to signal amplitude variation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2. Local maximum: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J[i]  &gt;  J[j]  for all j in [i − L/2, i + L/2], j ≠ i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Window half-width = L/2 ensures only the tallest peak within one half-period is selected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3. Minimum separation: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i − lastAcceptedPeak  ≥  L/2  samples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Prevents double-counting a single rep due to a broad or noisy jerk peak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Final rep count = number of accepted peaks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Peak indices also used for inter-peak timing to compute average rep cadence (s/rep)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Repetition Counting Pipeline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E88E5"/>
                </a:solidFill>
              </a:rPr>
              <a:t>Complete Signal Chain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11274552" cy="381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111556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Stage 1 — Raw IMU: ax, ay, az at ~50 Hz  (List&lt;Float&gt;, updated on each SensorEvent)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Stage 2 — IIR Low-Pass Filter (α = 0.76, fc ≈ 14 Hz):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Applied independently to ax, ay, az → smoothed signals fa, fb, fc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Stage 3 — Jerk Magnitude: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Discrete derivative of each filtered axis → L2 norm → scalar J[n]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Stage 4 — Autocorrelation Period Estimation: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Zero-mean J, compute R(τ) for τ ∈ [20, 250], return τ* = argmax R(τ)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Stage 5 — Peak Detection: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Find local maxima in J with minimum separation τ*/2, above mean + 0.4·std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Rep count = number of accepted peaks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Stage 6 — Cadence (s/rep):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avgPeakIntervalSec = mean of consecutive peak-to-peak gaps / 50 Hz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Identical pipeline available for gyroscope (countRepsGyro); accelerometer used by default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Feature Extraction: Sliding Window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E88E5"/>
                </a:solidFill>
              </a:rPr>
              <a:t>Bridging Signal Processing and Machine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11274552" cy="381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111556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Classification requires a fixed-length numerical descriptor of each exercise window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Window parameters: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WINDOW = 100 samples  ≈ 2 seconds of motion at 50 Hz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STEP   =  50 samples  →  50% overlap between consecutive windows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50% overlap doubles the number of training examples per session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Each window of 100 samples × 6 channels is reduced to a 46-dimensional feature vector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Three feature families computed per window: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Per-channel statistics  (36 features): 6 stats × 6 channels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Magnitude statistics    ( 4 features): accel magnitude + gyro magnitude, each with mean &amp; std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Pearson cross-correlations ( 6 features): 6 axis pairs across both sensors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Feature computation is deterministic and runs on the device in Java, matching the Python training code exactly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All features are scale-normalized (z-score) before classification using the training-set scaler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Per-Channel Statistical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E88E5"/>
                </a:solidFill>
              </a:rPr>
              <a:t>36 Features — 6 Statistics × 6 Channels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11274552" cy="381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111556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Six statistics are computed from each channel's 100-sample window: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Mean        — captures the gravitational and postural DC component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Std         — measures the intensity/energy of movement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Min         — lower bound of the motion arc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Max         — upper bound of the motion arc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Range       — Max − Min; total amplitude sweep of the movement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RMS         — √(mean(x²)); sensitive to both signal level and variance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Applied to all six channels in order: ax, ay, az, gx, gy, gz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This produces 6 × 6 = 36 features occupying indices [0 … 35] of the feature vector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Why include both Std and Range: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Std is sensitive to outliers; Range captures the true excursion; both complement each other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Why include RMS alongside Mean: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For zero-mean signals Std = RMS; for non-zero-mean signals (gravity-biased axes) they diverge,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and RMS captures signal power more accurately than Std alone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Global Features: Magnitude &amp; Cross-Correlation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E88E5"/>
                </a:solidFill>
              </a:rPr>
              <a:t>10 Features Encoding Multi-Axis Relationships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11274552" cy="381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111556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Magnitude features (indices 36–39) — collapse 3D motion to a scalar signal: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Accel magnitude:  ||a||[n] = √( ax² + ay² + az² )   → mean and std over window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Gyro  magnitude:  ||g||[n] = √( gx² + gy² + gz² )   → mean and std over window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Magnitude is orientation-invariant: same value regardless of phone mount direction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Pearson cross-correlations (indices 40–45) — encode exercise-specific coupling between axes: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r(ax, ay),  r(ax, az),  r(ay, az)  — accelerometer inter-axis correlations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r(gx, gy),  r(gx, gz),  r(gy, gz)  — gyroscope  inter-axis correlations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r(a, b)  =  Σ(aᵢ−ā)(bᵢ−b̄)  /  √[ Σ(aᵢ−ā)² · Σ(bᵢ−b̄)² ]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Biological interpretation: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Biceps press has strong az–ay coupling (elbow flexion in the sagittal plane)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Shoulder press has strong ay–az coupling dominated by vertical axis rotation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Triceps extension has a distinct gx–gz gyro signature from elbow extension direction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Pearson r is bounded [−1, 1] and scale-invariant — robust across subjects of different strength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Full 46-Dimensional Feature Vector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E88E5"/>
                </a:solidFill>
              </a:rPr>
              <a:t>Index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11274552" cy="381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111556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Indices  0 –  5:   ax  { mean, std, min, max, range, rms }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Indices  6 – 11:   ay  { mean, std, min, max, range, rms }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Indices 12 – 17:   az  { mean, std, min, max, range, rms }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Indices 18 – 23:   gx  { mean, std, min, max, range, rms }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Indices 24 – 29:   gy  { mean, std, min, max, range, rms }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Indices 30 – 35:   gz  { mean, std, min, max, range, rms }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Index   36:        accel magnitude — mean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Index   37:        accel magnitude — std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Index   38:        gyro  magnitude — mean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Index   39:        gyro  magnitude — std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Index   40:        Pearson r( ax, ay 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Index   41:        Pearson r( ax, az 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Index   42:        Pearson r( ay, az 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Index   43:        Pearson r( gx, gy 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Index   44:        Pearson r( gx, gz 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Index   45:        Pearson r( gy, gz 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Feature vector is identical in Python (train.py) and Java (ExerciseClassifier.java) — any mismatch causes silent accuracy loss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Dataset Construction &amp; Labeling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E88E5"/>
                </a:solidFill>
              </a:rPr>
              <a:t>Session-Based IMU Recordings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11274552" cy="381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111556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Data collected using the app's built-in CSV recorder across multiple sessions: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Biceps Press  (label 0, folder data/bp/)   — 6 session files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Shoulder Press (label 1, folder data/sp/)   — 6 session files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Triceps Extension (label 2, folder data/Triceps/) — 4 session files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Each session file: one continuous recording of 10–40+ repetitions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Session files vary in length; shorter sessions produce fewer windows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Sliding window extraction per session: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WINDOW = 100, STEP = 50  →  floor((N − 100)/50) + 1 windows per file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Each window independently labeled with the session's exercise class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Total dataset: ~400–600 feature vectors depending on recording lengths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Missing data handling: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np.nan_to_num(X, nan=0.0) applied before training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NaN can arise in Pearson r when a channel is constant across the window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No data augmentation — diversity comes from natural variation across sessions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Cross-Validation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E88E5"/>
                </a:solidFill>
              </a:rPr>
              <a:t>GroupKFold — Session-Based Holdout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11274552" cy="381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111556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Standard k-fold cross-validation would cause data leakage in time-series window data: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Adjacent windows from the same session share almost identical samples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A window from session 3 in training and an overlapping window from session 3 in test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would make the test accuracy artifically high and not generalize to new users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Solution: GroupKFold with groups = session ID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Each fold holds out exactly one complete session as the test set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All windows from that session are withheld from training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No window from a test session ever appears in training — zero leakage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Number of folds = number of unique sessions (16 total: 6+6+4)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Each fold trains on 15 sessions, tests on 1 — leave-one-session-out cross-validation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cross_val_predict aggregates out-of-fold predictions across all folds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Final reported accuracy/F1 is across all windows, each predicted under a held-out-session regime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After cross-validation, models are re-fit on the full dataset for deployment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Classifier Selection: LR and Random Forest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E88E5"/>
                </a:solidFill>
              </a:rPr>
              <a:t>Training &amp;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11274552" cy="381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111556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Two classifiers evaluated during development: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Logistic Regression (multinomial, one-vs-rest disabled):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Pipeline: StandardScaler → LogisticRegression(multi_class='multinomial', C=1.0, max_iter=2000)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StandardScaler: z-normalizes each feature to zero mean and unit variance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Multinomial softmax loss over all three classes simultaneously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Regularization strength C=1.0 (L2 penalty) prevents overfitting on small dataset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Closed-form scaler parameters (mean, scale) and LR coefficients (coef, bias) exported to JSON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Random Forest: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RandomForestClassifier(n_estimators=200, max_depth=None)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Serves as a non-linear upper bound on achievable accuracy with these features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Feature importances reported — identifies which of the 46 features matter most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Not deployable to Android (no efficient Java path for tree ensembles)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Decision: Logistic Regression chosen for on-device deployment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Forward pass is a single matrix multiply + softmax — O(46 × 3) = 138 multiply-adds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Trivially implementable in Java without any ML library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On-Device Inference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E88E5"/>
                </a:solidFill>
              </a:rPr>
              <a:t>Exporting and Running the Classifier in Java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11274552" cy="381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111556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Weight export chain (Python side):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train.py trains LR pipeline, writes weights.json: { bias, mean, scale, coef }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export_weights.py reads weights.json, generates ExerciseClassifier.java with literal float arrays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Generated file replaces the placeholder version in the Android source tree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On-device forward pass (Java side):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Step 1 — Extract 46 features from the current 100-sample window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Step 2 — Z-score normalize: z[i] = (feat[i] − SCALER_MEAN[i]) / SCALER_SCALE[i]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Step 3 — Compute logit per class k: logit[k] = BIAS[k] + COEF[k] · z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Step 4 — Numerically stable softmax: subtract max logit before exponentiation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Step 5 — Predicted class = argmax(probs);  confidence = max(probs)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Numerical stability of softmax: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Computing exp(logit[k]) directly can overflow for large logits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Subtracting max(logits) before exponentiation is algebraically equivalent and stays in float range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No ML framework (TFLite, ONNX) needed — pure Java arithmetic, zero extra APK size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Real-Time Classification &amp; Idle Detection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E88E5"/>
                </a:solidFill>
              </a:rPr>
              <a:t>LiveClassifier — Streaming Inference Every ~3 Seconds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11274552" cy="381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111556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LiveClassifier runs alongside ImuCollector, processing the rolling sensor buffer: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STEP = 150 samples — classification fires approximately every 3 seconds at 50 Hz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Each inference operates on the most recent 100-sample window (2 seconds)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Two-stage gate before calling the classifier — both must pass: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Gate 1 — Motion energy threshold: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Compute accel magnitude std over the window: σ = std(||a||)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MOTION_THRESHOLD = 0.5 m/s²  — rejects stationary or very slow movement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If σ &lt; 0.5: emit null result → UI shows 'Rest', calories = 0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Gate 2 — Periodicity check (rep counter used as detector):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Run SignalProcessor.countRepsAccel() on the same 100-sample window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If rep count &lt; 1: emit null result → UI shows 'Rest', calories = 0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Ensures random aperiodic movement (walking, adjusting equipment) is not classified as exercise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Only if both gates pass: run ExerciseClassifier.classify() and emit the Result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Inference runs on a background thread (AsyncTask) to avoid blocking the UI thread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Calorie Estimation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E88E5"/>
                </a:solidFill>
              </a:rPr>
              <a:t>MET-Based Metabolic + Mechanical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11274552" cy="381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111556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Two additive components estimate total energy expenditure per session: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Component 1 — Metabolic cost (MET-based):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Calories = MET × body_weight_kg × duration_hours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MET values: Biceps Press = 4.0,  Shoulder Press = 5.0,  Triceps Extension = 3.5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Body weight entered by user (kg), persisted across sessions via SharedPreferences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Duration = number of confirmed live-classified windows × window_duration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Component 2 — Mechanical work (load-based):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Calories = (load_kg × g × ROM_m × 2 × reps) / (muscle_efficiency × J_per_cal)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load_kg: weight the user reports carrying (dumbbell / barbell)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ROM (range of motion): BP = 0.35 m,  SP = 0.55 m,  TP = 0.40 m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Factor of 2: accounts for both concentric and eccentric phases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Muscle efficiency ≈ 25%;  1 dietary calorie = 4184 J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Display: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Live panel shows rolling calorie total while exercise is ongoing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During rest/idle: live calories display 0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Session total accumulates across all sets and is shown in the stats bar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Session Management &amp; User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E88E5"/>
                </a:solidFill>
              </a:rPr>
              <a:t>Multi-Set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11274552" cy="381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111556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Session lifecycle: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Start button: begins simultaneous IMU collection across all three collectors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Next Set button: freezes current set, processes and logs it, immediately restarts for next set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Stop button: ends collection, runs full rep-counting and stats pipeline, displays results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Set history panel (dynamically populated ListView-style):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Each set entry shows: set number, exercise label, rep count, duration, calories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Color-coded by exercise: Biceps Press = blue, Shoulder Press = green, Triceps Extension = orange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Clear button resets session history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Stats bar (always visible):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Total session duration, average rep cadence (s/rep), peak acceleration (m/s²), cumulative calories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Live detection panel (updates every ~3 s):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Exercise label in class color, softmax confidence percentage, rolling live calorie display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Shows 'Rest  /  0 kcal' when either motion or periodicity gate rejects the window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IMU recording panel (independent of rep counting):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Record / Stop buttons save raw CSV at any time via the system file picker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Used during data collection for ML training; unchanged during deployment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Performance Statistics Displayed to User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E88E5"/>
                </a:solidFill>
              </a:rPr>
              <a:t>On-Device Signal Analysis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11274552" cy="381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111556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Rep count: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Derived from peak detection on the jerk magnitude — reported per set and cumulatively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Average rep cadence (s/rep):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avgPeakIntervalSec = mean of peak-to-peak gaps / 50 Hz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More accurate than (total_time / rep_count) because it measures the actual rhythmic interval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Computed from the same autocorrelation → peak pipeline used for counting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Peak acceleration (m/s²):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Maximum accel magnitude sample over the entire set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Reflects the explosive force at the fastest point of the lift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Session duration: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Wall-clock time from Start to Stop, reported in MM:SS format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All statistics are computed on a background thread after Stop/Next Set is pressed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UI thread receives results via a Handler post — avoids ANR on long signal buffers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Three-Class Extension: Adding Triceps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E88E5"/>
                </a:solidFill>
              </a:rPr>
              <a:t>Scaling from Binary to Multinomial Classification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11274552" cy="381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111556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Initial system: binary classification (Biceps Press vs. Shoulder Press)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Extension: added Triceps Extension as a third class (label 2)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Changes required in the ML pipeline: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FOLDERS updated: added entry 2 → 'Triceps' pointing to data/Triceps/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LogisticRegression: multi_class='multinomial' already set — no structural change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BIAS vector grows from 2 elements to 3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COEF matrix grows from 2×46 to 3×46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weights.json and ExerciseClassifier.java regenerated by the export script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Changes required in Android: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LABEL_TP = 2, LABEL_NAMES[2] = 'Triceps Extension' added to ExerciseClassifier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labelColor(): TP → deep orange (#E65100)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labelMet():   TP → MET 3.5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getRomM():    TP → ROM 0.40 m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All switch/if chains in RepCounterActivity updated to handle label 0, 1, or 2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The softmax inference loop is class-count agnostic — loop over N_CLASSES requires no change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</a:rPr>
              <a:t>• Feature extraction is unchanged — exercise-discriminating information already present in the 46-dim vector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Key Design Decisions &amp; Tradeoffs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E88E5"/>
                </a:solidFill>
              </a:rPr>
              <a:t>Engineering Choices Made During Development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11274552" cy="381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111556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IIR over FIR for LPF: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IIR uses one coefficient and one state variable — O(1) per sample, minimal memory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FIR would require storing ~50+ past samples for equivalent roll-off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Jerk magnitude over raw magnitude: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Raw accel magnitude is dominated by gravity (~9.8 m/s²); DC bias obscures exercise signal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Differencing removes DC and emphasizes dynamic transitions that mark rep boundaries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Autocorrelation over fixed threshold for period: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Rep rate varies per user and fatigue level; fixed threshold misses slow or fast reps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Autocorrelation adapts the detection window to the actual cadence observed in the data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Logistic Regression over Random Forest for deployment: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LR: 3×46 = 138 floats, one matrix multiply — fits in phone L1 cache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RF: 200 trees × ~1000 nodes each — ~MB of memory + cache-unfriendly traversal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D54F"/>
                </a:solidFill>
              </a:rPr>
              <a:t>GroupKFold over standard k-fold: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Window overlap between consecutive windows of the same session causes leakage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B0BEC5"/>
                </a:solidFill>
              </a:rPr>
              <a:t>    ◦ Session-level holdout gives an honest estimate of generalization to new recording sessions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